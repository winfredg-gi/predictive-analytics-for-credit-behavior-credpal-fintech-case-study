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7" r:id="rId4"/>
    <p:sldId id="258" r:id="rId5"/>
    <p:sldId id="259" r:id="rId6"/>
    <p:sldId id="260" r:id="rId7"/>
    <p:sldId id="275" r:id="rId8"/>
    <p:sldId id="261" r:id="rId9"/>
    <p:sldId id="262" r:id="rId10"/>
    <p:sldId id="263" r:id="rId11"/>
    <p:sldId id="276" r:id="rId12"/>
    <p:sldId id="279" r:id="rId13"/>
    <p:sldId id="281" r:id="rId14"/>
    <p:sldId id="282" r:id="rId15"/>
    <p:sldId id="277" r:id="rId16"/>
    <p:sldId id="268" r:id="rId17"/>
    <p:sldId id="269" r:id="rId18"/>
    <p:sldId id="270"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2D224B-A3B8-9E03-0611-67402D834E57}" v="5" dt="2025-10-30T02:20:30.042"/>
    <p1510:client id="{F16EB772-F1C1-9596-00B8-B598A11ABB4B}" v="13" dt="2025-10-30T02:26:34.4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58" autoAdjust="0"/>
    <p:restoredTop sz="94660"/>
  </p:normalViewPr>
  <p:slideViewPr>
    <p:cSldViewPr snapToGrid="0">
      <p:cViewPr varScale="1">
        <p:scale>
          <a:sx n="66" d="100"/>
          <a:sy n="66" d="100"/>
        </p:scale>
        <p:origin x="84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O PASCALINE MYENNEH" userId="67cd417fc93d9a3a" providerId="Windows Live" clId="Web-{852D224B-A3B8-9E03-0611-67402D834E57}"/>
    <pc:docChg chg="modSld">
      <pc:chgData name="KUMO PASCALINE MYENNEH" userId="67cd417fc93d9a3a" providerId="Windows Live" clId="Web-{852D224B-A3B8-9E03-0611-67402D834E57}" dt="2025-10-30T02:20:30.042" v="4" actId="14100"/>
      <pc:docMkLst>
        <pc:docMk/>
      </pc:docMkLst>
      <pc:sldChg chg="modSp">
        <pc:chgData name="KUMO PASCALINE MYENNEH" userId="67cd417fc93d9a3a" providerId="Windows Live" clId="Web-{852D224B-A3B8-9E03-0611-67402D834E57}" dt="2025-10-30T02:20:30.042" v="4" actId="14100"/>
        <pc:sldMkLst>
          <pc:docMk/>
          <pc:sldMk cId="95992585" sldId="257"/>
        </pc:sldMkLst>
        <pc:picChg chg="mod">
          <ac:chgData name="KUMO PASCALINE MYENNEH" userId="67cd417fc93d9a3a" providerId="Windows Live" clId="Web-{852D224B-A3B8-9E03-0611-67402D834E57}" dt="2025-10-30T02:20:30.042" v="4" actId="14100"/>
          <ac:picMkLst>
            <pc:docMk/>
            <pc:sldMk cId="95992585" sldId="257"/>
            <ac:picMk id="2" creationId="{23135148-875B-41CC-8A19-F1AE47ABFB51}"/>
          </ac:picMkLst>
        </pc:picChg>
      </pc:sldChg>
    </pc:docChg>
  </pc:docChgLst>
  <pc:docChgLst>
    <pc:chgData name="KUMO PASCALINE MYENNEH" userId="67cd417fc93d9a3a" providerId="Windows Live" clId="Web-{F16EB772-F1C1-9596-00B8-B598A11ABB4B}"/>
    <pc:docChg chg="modSld">
      <pc:chgData name="KUMO PASCALINE MYENNEH" userId="67cd417fc93d9a3a" providerId="Windows Live" clId="Web-{F16EB772-F1C1-9596-00B8-B598A11ABB4B}" dt="2025-10-30T02:26:34.437" v="12" actId="14100"/>
      <pc:docMkLst>
        <pc:docMk/>
      </pc:docMkLst>
      <pc:sldChg chg="modSp">
        <pc:chgData name="KUMO PASCALINE MYENNEH" userId="67cd417fc93d9a3a" providerId="Windows Live" clId="Web-{F16EB772-F1C1-9596-00B8-B598A11ABB4B}" dt="2025-10-30T02:26:13.670" v="9" actId="14100"/>
        <pc:sldMkLst>
          <pc:docMk/>
          <pc:sldMk cId="95992585" sldId="257"/>
        </pc:sldMkLst>
        <pc:picChg chg="mod">
          <ac:chgData name="KUMO PASCALINE MYENNEH" userId="67cd417fc93d9a3a" providerId="Windows Live" clId="Web-{F16EB772-F1C1-9596-00B8-B598A11ABB4B}" dt="2025-10-30T02:26:13.670" v="9" actId="14100"/>
          <ac:picMkLst>
            <pc:docMk/>
            <pc:sldMk cId="95992585" sldId="257"/>
            <ac:picMk id="2" creationId="{23135148-875B-41CC-8A19-F1AE47ABFB51}"/>
          </ac:picMkLst>
        </pc:picChg>
      </pc:sldChg>
      <pc:sldChg chg="modSp">
        <pc:chgData name="KUMO PASCALINE MYENNEH" userId="67cd417fc93d9a3a" providerId="Windows Live" clId="Web-{F16EB772-F1C1-9596-00B8-B598A11ABB4B}" dt="2025-10-30T02:26:34.437" v="12" actId="14100"/>
        <pc:sldMkLst>
          <pc:docMk/>
          <pc:sldMk cId="95992585" sldId="258"/>
        </pc:sldMkLst>
        <pc:picChg chg="mod">
          <ac:chgData name="KUMO PASCALINE MYENNEH" userId="67cd417fc93d9a3a" providerId="Windows Live" clId="Web-{F16EB772-F1C1-9596-00B8-B598A11ABB4B}" dt="2025-10-30T02:26:34.437" v="12" actId="14100"/>
          <ac:picMkLst>
            <pc:docMk/>
            <pc:sldMk cId="95992585" sldId="258"/>
            <ac:picMk id="3" creationId="{F3E0451A-ED66-4B14-8FFC-0E4294695912}"/>
          </ac:picMkLst>
        </pc:picChg>
      </pc:sldChg>
      <pc:sldChg chg="modSp">
        <pc:chgData name="KUMO PASCALINE MYENNEH" userId="67cd417fc93d9a3a" providerId="Windows Live" clId="Web-{F16EB772-F1C1-9596-00B8-B598A11ABB4B}" dt="2025-10-30T02:24:47.210" v="1" actId="14100"/>
        <pc:sldMkLst>
          <pc:docMk/>
          <pc:sldMk cId="95992585" sldId="259"/>
        </pc:sldMkLst>
        <pc:picChg chg="mod">
          <ac:chgData name="KUMO PASCALINE MYENNEH" userId="67cd417fc93d9a3a" providerId="Windows Live" clId="Web-{F16EB772-F1C1-9596-00B8-B598A11ABB4B}" dt="2025-10-30T02:24:47.210" v="1" actId="14100"/>
          <ac:picMkLst>
            <pc:docMk/>
            <pc:sldMk cId="95992585" sldId="259"/>
            <ac:picMk id="4" creationId="{6691EBA9-1B53-45B7-AA73-3E2E52B7E097}"/>
          </ac:picMkLst>
        </pc:picChg>
      </pc:sldChg>
      <pc:sldChg chg="modSp">
        <pc:chgData name="KUMO PASCALINE MYENNEH" userId="67cd417fc93d9a3a" providerId="Windows Live" clId="Web-{F16EB772-F1C1-9596-00B8-B598A11ABB4B}" dt="2025-10-30T02:25:48.262" v="7" actId="14100"/>
        <pc:sldMkLst>
          <pc:docMk/>
          <pc:sldMk cId="95992585" sldId="260"/>
        </pc:sldMkLst>
        <pc:picChg chg="mod">
          <ac:chgData name="KUMO PASCALINE MYENNEH" userId="67cd417fc93d9a3a" providerId="Windows Live" clId="Web-{F16EB772-F1C1-9596-00B8-B598A11ABB4B}" dt="2025-10-30T02:25:48.262" v="7" actId="14100"/>
          <ac:picMkLst>
            <pc:docMk/>
            <pc:sldMk cId="95992585" sldId="260"/>
            <ac:picMk id="5" creationId="{819D27B5-4D8A-4DA7-B5A7-FE01930D6E4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A6E6-075E-4828-AF88-09BD0A7425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3800DB-487B-4E23-AC0B-90C9ED4E1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64DF5B1-3694-42A9-866E-9F1FF6CF0C01}"/>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5" name="Footer Placeholder 4">
            <a:extLst>
              <a:ext uri="{FF2B5EF4-FFF2-40B4-BE49-F238E27FC236}">
                <a16:creationId xmlns:a16="http://schemas.microsoft.com/office/drawing/2014/main" id="{54718E67-8162-4BE0-9B01-22B89A120A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68B9D-A8C9-40C5-85B0-14F435F39C81}"/>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896738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4D5D7-9AEB-44F2-8A04-0694BE1520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CE933F-693D-4770-8DC4-A5A086AC8AC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A7849A-1CE6-4F5C-95D7-EA8DA5EE5551}"/>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5" name="Footer Placeholder 4">
            <a:extLst>
              <a:ext uri="{FF2B5EF4-FFF2-40B4-BE49-F238E27FC236}">
                <a16:creationId xmlns:a16="http://schemas.microsoft.com/office/drawing/2014/main" id="{39FE1FD0-B95E-4CF6-9A27-0F91F96DA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6123BE-5891-49D6-A758-867A98F38D77}"/>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35972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5FC7-1BEA-438E-A0A7-88FF55112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D5F5C0-417B-4A28-8AE9-A79AC74A62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BC6257-C490-4059-9E97-16E46673C65A}"/>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5" name="Footer Placeholder 4">
            <a:extLst>
              <a:ext uri="{FF2B5EF4-FFF2-40B4-BE49-F238E27FC236}">
                <a16:creationId xmlns:a16="http://schemas.microsoft.com/office/drawing/2014/main" id="{7A4051CD-74EC-43C1-9F21-D33BD297FC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C95141-29DC-41BA-BE25-E899055F317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694532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FC21-AE04-4050-80E6-D9DCA4B50C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85F7E-EF45-48F7-9E54-C6806D0E96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724501F-6ED5-4112-B037-D3E9F8CF2C8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1E48C-176E-4E60-8CB3-5425169963CD}"/>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6" name="Footer Placeholder 5">
            <a:extLst>
              <a:ext uri="{FF2B5EF4-FFF2-40B4-BE49-F238E27FC236}">
                <a16:creationId xmlns:a16="http://schemas.microsoft.com/office/drawing/2014/main" id="{5852202B-C929-4B39-AF47-D17C38F868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EEBF3-930A-4A23-810D-C1880E7A6D29}"/>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723384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48E08-A828-430D-B8A6-7302E570AD2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FF5402-465C-4E68-BF7E-BFE1177B55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69B917D-5EC9-44FC-B8A7-9ADF4ADC4FA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DCF5D4-E55C-42FF-A7E5-2466DE35B8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7579A7F-77F4-4169-8D51-2123441998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5923-3BB5-4F33-8E76-56665E95B55A}"/>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8" name="Footer Placeholder 7">
            <a:extLst>
              <a:ext uri="{FF2B5EF4-FFF2-40B4-BE49-F238E27FC236}">
                <a16:creationId xmlns:a16="http://schemas.microsoft.com/office/drawing/2014/main" id="{FA43FC79-7089-4373-88DC-12501E7820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E0BEB1-B009-47B7-B159-DE05E615E710}"/>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241972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5FFCC-78CC-4E9D-A277-8230F2733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4CEFE7-D923-48C1-B2FE-8110829C69E3}"/>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4" name="Footer Placeholder 3">
            <a:extLst>
              <a:ext uri="{FF2B5EF4-FFF2-40B4-BE49-F238E27FC236}">
                <a16:creationId xmlns:a16="http://schemas.microsoft.com/office/drawing/2014/main" id="{A68F91C9-7841-4F7B-8F24-B5FF45B5B3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896739-CF17-4867-A5ED-317AD19F5A3B}"/>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953114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E8942B-5ECF-4556-91C2-496E4C52EF8A}"/>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3" name="Footer Placeholder 2">
            <a:extLst>
              <a:ext uri="{FF2B5EF4-FFF2-40B4-BE49-F238E27FC236}">
                <a16:creationId xmlns:a16="http://schemas.microsoft.com/office/drawing/2014/main" id="{3E1589EF-E9AD-45F7-BFBE-6F8AD35703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18E0FA-5424-403C-8462-1B7C301C65D8}"/>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246240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27A56-C315-441C-9002-DFD599AED2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F57D9A-8037-4B31-951B-4675ADA69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63141B-5121-4179-B3F6-529569122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A60C32E-3427-4696-A55A-56886EA24AEB}"/>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6" name="Footer Placeholder 5">
            <a:extLst>
              <a:ext uri="{FF2B5EF4-FFF2-40B4-BE49-F238E27FC236}">
                <a16:creationId xmlns:a16="http://schemas.microsoft.com/office/drawing/2014/main" id="{7DDFE526-7D20-4EC0-9624-E77981295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A82D7-E462-4060-85D6-85CF555401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83030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919B-BF68-4590-8CA9-A51BAC0F75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4BC1AA-5C68-47DC-BBF0-1E309865E5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81A636-7F9C-43EC-B2F2-6FB3323CB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19410E-A050-4AA2-BC89-EF52EB1C34F6}"/>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6" name="Footer Placeholder 5">
            <a:extLst>
              <a:ext uri="{FF2B5EF4-FFF2-40B4-BE49-F238E27FC236}">
                <a16:creationId xmlns:a16="http://schemas.microsoft.com/office/drawing/2014/main" id="{B0C23AB0-18A5-4589-926D-C00F68CFEA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4EE52-EECA-4C6E-83E9-6382044D356C}"/>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1609688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536FE-B6CA-4D45-A719-6B51F3FF6D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B9388C-63B0-4DA8-97D0-BEEDCF401C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9BDB0-2A2B-43AC-965A-A9E7E7F741CD}"/>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5" name="Footer Placeholder 4">
            <a:extLst>
              <a:ext uri="{FF2B5EF4-FFF2-40B4-BE49-F238E27FC236}">
                <a16:creationId xmlns:a16="http://schemas.microsoft.com/office/drawing/2014/main" id="{B67DA7C3-2A5B-4BED-A540-9136486CC5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5888E8-31D6-4E51-9228-0D6066FED55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3471160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010CA-6776-433E-8E25-97899E082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91E6E-3CF5-4535-B37E-E30058EA284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ADEE3-AAA7-4846-8EC6-84B1537C1D74}"/>
              </a:ext>
            </a:extLst>
          </p:cNvPr>
          <p:cNvSpPr>
            <a:spLocks noGrp="1"/>
          </p:cNvSpPr>
          <p:nvPr>
            <p:ph type="dt" sz="half" idx="10"/>
          </p:nvPr>
        </p:nvSpPr>
        <p:spPr/>
        <p:txBody>
          <a:bodyPr/>
          <a:lstStyle/>
          <a:p>
            <a:fld id="{EED1C14C-A143-42F5-B247-D0E800131009}" type="datetimeFigureOut">
              <a:rPr lang="en-US" smtClean="0"/>
              <a:t>11/5/2025</a:t>
            </a:fld>
            <a:endParaRPr lang="en-US"/>
          </a:p>
        </p:txBody>
      </p:sp>
      <p:sp>
        <p:nvSpPr>
          <p:cNvPr id="5" name="Footer Placeholder 4">
            <a:extLst>
              <a:ext uri="{FF2B5EF4-FFF2-40B4-BE49-F238E27FC236}">
                <a16:creationId xmlns:a16="http://schemas.microsoft.com/office/drawing/2014/main" id="{001DABD6-6E60-4895-89B1-3604A484D2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4D314-6D1C-4A42-A445-B77646B2B295}"/>
              </a:ext>
            </a:extLst>
          </p:cNvPr>
          <p:cNvSpPr>
            <a:spLocks noGrp="1"/>
          </p:cNvSpPr>
          <p:nvPr>
            <p:ph type="sldNum" sz="quarter" idx="12"/>
          </p:nvPr>
        </p:nvSpPr>
        <p:spPr/>
        <p:txBody>
          <a:bodyPr/>
          <a:lstStyle/>
          <a:p>
            <a:fld id="{5B03D32D-F1BC-4E9C-97E1-36CFF5B22341}" type="slidenum">
              <a:rPr lang="en-US" smtClean="0"/>
              <a:t>‹#›</a:t>
            </a:fld>
            <a:endParaRPr lang="en-US"/>
          </a:p>
        </p:txBody>
      </p:sp>
    </p:spTree>
    <p:extLst>
      <p:ext uri="{BB962C8B-B14F-4D97-AF65-F5344CB8AC3E}">
        <p14:creationId xmlns:p14="http://schemas.microsoft.com/office/powerpoint/2010/main" val="4195526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F6010-77C4-45FE-968C-712199A585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9B1B2C-5D5F-46D9-92F5-ECDF2816A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34894-C6F5-46F1-BAA2-AFEA88E681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D1C14C-A143-42F5-B247-D0E800131009}" type="datetimeFigureOut">
              <a:rPr lang="en-US" smtClean="0"/>
              <a:t>11/5/2025</a:t>
            </a:fld>
            <a:endParaRPr lang="en-US"/>
          </a:p>
        </p:txBody>
      </p:sp>
      <p:sp>
        <p:nvSpPr>
          <p:cNvPr id="5" name="Footer Placeholder 4">
            <a:extLst>
              <a:ext uri="{FF2B5EF4-FFF2-40B4-BE49-F238E27FC236}">
                <a16:creationId xmlns:a16="http://schemas.microsoft.com/office/drawing/2014/main" id="{975B1C84-4663-4022-BBEA-7667FEBCF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2820DA-1F3A-421F-A770-A6347089E3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03D32D-F1BC-4E9C-97E1-36CFF5B22341}" type="slidenum">
              <a:rPr lang="en-US" smtClean="0"/>
              <a:t>‹#›</a:t>
            </a:fld>
            <a:endParaRPr lang="en-US"/>
          </a:p>
        </p:txBody>
      </p:sp>
    </p:spTree>
    <p:extLst>
      <p:ext uri="{BB962C8B-B14F-4D97-AF65-F5344CB8AC3E}">
        <p14:creationId xmlns:p14="http://schemas.microsoft.com/office/powerpoint/2010/main" val="1904852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public.tableau.com/views/CredPal_17617698795810/AvgMonthlyIncomeByReg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1">
            <a:extLst>
              <a:ext uri="{FF2B5EF4-FFF2-40B4-BE49-F238E27FC236}">
                <a16:creationId xmlns:a16="http://schemas.microsoft.com/office/drawing/2014/main" id="{448BCCD7-77B1-48C3-9728-78BE631E6D3D}"/>
              </a:ext>
            </a:extLst>
          </p:cNvPr>
          <p:cNvSpPr>
            <a:spLocks noGrp="1"/>
          </p:cNvSpPr>
          <p:nvPr>
            <p:ph type="ctrTitle"/>
          </p:nvPr>
        </p:nvSpPr>
        <p:spPr>
          <a:xfrm>
            <a:off x="938254" y="1081377"/>
            <a:ext cx="10288988" cy="3260035"/>
          </a:xfrm>
        </p:spPr>
        <p:txBody>
          <a:bodyPr>
            <a:normAutofit fontScale="90000"/>
          </a:bodyPr>
          <a:lstStyle/>
          <a:p>
            <a:r>
              <a:rPr lang="en-US" b="1" dirty="0"/>
              <a:t>Unlocking Consumer Patterns: Predictive Analytics for </a:t>
            </a:r>
            <a:r>
              <a:rPr lang="en-US" b="1" dirty="0" err="1"/>
              <a:t>CredPal’s</a:t>
            </a:r>
            <a:r>
              <a:rPr lang="en-US" b="1" dirty="0"/>
              <a:t> Credit Ecosystem</a:t>
            </a:r>
            <a:br>
              <a:rPr lang="en-US" dirty="0"/>
            </a:br>
            <a:endParaRPr lang="en-US" dirty="0">
              <a:hlinkClick r:id="rId2"/>
            </a:endParaRPr>
          </a:p>
        </p:txBody>
      </p:sp>
      <p:sp>
        <p:nvSpPr>
          <p:cNvPr id="3" name="slide1">
            <a:extLst>
              <a:ext uri="{FF2B5EF4-FFF2-40B4-BE49-F238E27FC236}">
                <a16:creationId xmlns:a16="http://schemas.microsoft.com/office/drawing/2014/main" id="{9D83D94B-E93F-4402-A30F-C40C0F0DBD56}"/>
              </a:ext>
            </a:extLst>
          </p:cNvPr>
          <p:cNvSpPr>
            <a:spLocks noGrp="1"/>
          </p:cNvSpPr>
          <p:nvPr>
            <p:ph type="subTitle" idx="1"/>
          </p:nvPr>
        </p:nvSpPr>
        <p:spPr>
          <a:xfrm>
            <a:off x="1579659" y="4802587"/>
            <a:ext cx="9144000" cy="1200648"/>
          </a:xfrm>
        </p:spPr>
        <p:txBody>
          <a:bodyPr/>
          <a:lstStyle/>
          <a:p>
            <a:r>
              <a:rPr lang="en-US" dirty="0"/>
              <a:t>GROUP TWO WORK</a:t>
            </a:r>
          </a:p>
          <a:p>
            <a:r>
              <a:rPr dirty="0"/>
              <a:t>File created on: 10/29/2025 8:34:03 PM</a:t>
            </a:r>
          </a:p>
        </p:txBody>
      </p:sp>
    </p:spTree>
    <p:extLst>
      <p:ext uri="{BB962C8B-B14F-4D97-AF65-F5344CB8AC3E}">
        <p14:creationId xmlns:p14="http://schemas.microsoft.com/office/powerpoint/2010/main" val="9599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Table of Content</a:t>
            </a:r>
          </a:p>
        </p:txBody>
      </p:sp>
      <p:sp>
        <p:nvSpPr>
          <p:cNvPr id="3" name="Content Placeholder 2"/>
          <p:cNvSpPr>
            <a:spLocks noGrp="1"/>
          </p:cNvSpPr>
          <p:nvPr>
            <p:ph idx="1"/>
          </p:nvPr>
        </p:nvSpPr>
        <p:spPr>
          <a:xfrm>
            <a:off x="838200" y="1653871"/>
            <a:ext cx="10515600" cy="4523092"/>
          </a:xfrm>
        </p:spPr>
        <p:txBody>
          <a:bodyPr>
            <a:normAutofit/>
          </a:bodyPr>
          <a:lstStyle/>
          <a:p>
            <a:r>
              <a:rPr lang="en-US" dirty="0"/>
              <a:t>Average Monthly Income by Region</a:t>
            </a:r>
          </a:p>
          <a:p>
            <a:r>
              <a:rPr lang="en-US" dirty="0"/>
              <a:t>Monthly Expenditure by Region</a:t>
            </a:r>
          </a:p>
          <a:p>
            <a:r>
              <a:rPr lang="en-US" dirty="0"/>
              <a:t>Average Disposable Income /Saving Rates</a:t>
            </a:r>
          </a:p>
          <a:p>
            <a:r>
              <a:rPr lang="en-US" dirty="0"/>
              <a:t>Consumer Preference</a:t>
            </a:r>
          </a:p>
          <a:p>
            <a:r>
              <a:rPr lang="en-US" dirty="0"/>
              <a:t>Consumer Expenditure</a:t>
            </a:r>
          </a:p>
          <a:p>
            <a:r>
              <a:rPr lang="en-US" dirty="0"/>
              <a:t>Relationship Between Income, Expenditure, and Savings</a:t>
            </a:r>
          </a:p>
          <a:p>
            <a:r>
              <a:rPr lang="en-US" dirty="0"/>
              <a:t>Overall Market Interpretation</a:t>
            </a:r>
          </a:p>
          <a:p>
            <a:r>
              <a:rPr lang="en-US" dirty="0"/>
              <a:t>Overall Dashboard</a:t>
            </a:r>
          </a:p>
        </p:txBody>
      </p:sp>
    </p:spTree>
    <p:extLst>
      <p:ext uri="{BB962C8B-B14F-4D97-AF65-F5344CB8AC3E}">
        <p14:creationId xmlns:p14="http://schemas.microsoft.com/office/powerpoint/2010/main" val="14623630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t>Average Monthly Income by Region:</a:t>
            </a:r>
            <a:endParaRPr lang="en-US" dirty="0"/>
          </a:p>
        </p:txBody>
      </p:sp>
      <p:sp>
        <p:nvSpPr>
          <p:cNvPr id="7" name="Content Placeholder 6"/>
          <p:cNvSpPr>
            <a:spLocks noGrp="1"/>
          </p:cNvSpPr>
          <p:nvPr>
            <p:ph idx="1"/>
          </p:nvPr>
        </p:nvSpPr>
        <p:spPr>
          <a:xfrm>
            <a:off x="6241773" y="1825625"/>
            <a:ext cx="5494351" cy="4351338"/>
          </a:xfrm>
        </p:spPr>
        <p:txBody>
          <a:bodyPr>
            <a:noAutofit/>
          </a:bodyPr>
          <a:lstStyle/>
          <a:p>
            <a:r>
              <a:rPr lang="en-US" sz="2400" b="1" dirty="0"/>
              <a:t> </a:t>
            </a:r>
            <a:r>
              <a:rPr lang="en-US" sz="2400" dirty="0"/>
              <a:t>The analysis shows that Sub-Saharan Africa ($34.7M) and Europe ($34.3M) record the highest average monthly income among all regions. </a:t>
            </a:r>
          </a:p>
          <a:p>
            <a:r>
              <a:rPr lang="en-US" sz="2400" dirty="0"/>
              <a:t>These regions significantly outperform others such as Asia ($19.4M) and North America ($2.9M).</a:t>
            </a:r>
          </a:p>
          <a:p>
            <a:r>
              <a:rPr lang="en-US" sz="2400" dirty="0"/>
              <a:t>This suggests stronger earning potential and possibly larger active consumer markets within Sub-Saharan Africa and Europe two key zones for </a:t>
            </a:r>
            <a:r>
              <a:rPr lang="en-US" sz="2400" dirty="0" err="1"/>
              <a:t>CredPal’s</a:t>
            </a:r>
            <a:r>
              <a:rPr lang="en-US" sz="2400" dirty="0"/>
              <a:t> credit-driven retail expansion.</a:t>
            </a:r>
          </a:p>
        </p:txBody>
      </p:sp>
      <p:pic>
        <p:nvPicPr>
          <p:cNvPr id="2" name="slide2" descr="Avg Monthly Income By Region">
            <a:extLst>
              <a:ext uri="{FF2B5EF4-FFF2-40B4-BE49-F238E27FC236}">
                <a16:creationId xmlns:a16="http://schemas.microsoft.com/office/drawing/2014/main" id="{23135148-875B-41CC-8A19-F1AE47ABFB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769" y="1683899"/>
            <a:ext cx="6107639" cy="4810094"/>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3" descr="Monthly Expenditure">
            <a:extLst>
              <a:ext uri="{FF2B5EF4-FFF2-40B4-BE49-F238E27FC236}">
                <a16:creationId xmlns:a16="http://schemas.microsoft.com/office/drawing/2014/main" id="{F3E0451A-ED66-4B14-8FFC-0E4294695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786" y="1509423"/>
            <a:ext cx="5696033" cy="4978841"/>
          </a:xfrm>
          <a:prstGeom prst="rect">
            <a:avLst/>
          </a:prstGeom>
        </p:spPr>
      </p:pic>
      <p:sp>
        <p:nvSpPr>
          <p:cNvPr id="5" name="Title 4"/>
          <p:cNvSpPr>
            <a:spLocks noGrp="1"/>
          </p:cNvSpPr>
          <p:nvPr>
            <p:ph type="title"/>
          </p:nvPr>
        </p:nvSpPr>
        <p:spPr/>
        <p:txBody>
          <a:bodyPr/>
          <a:lstStyle/>
          <a:p>
            <a:r>
              <a:rPr lang="en-US" b="1" dirty="0"/>
              <a:t>Monthly Expenditure by Region</a:t>
            </a:r>
          </a:p>
        </p:txBody>
      </p:sp>
      <p:sp>
        <p:nvSpPr>
          <p:cNvPr id="6" name="Content Placeholder 5"/>
          <p:cNvSpPr>
            <a:spLocks noGrp="1"/>
          </p:cNvSpPr>
          <p:nvPr>
            <p:ph idx="1"/>
          </p:nvPr>
        </p:nvSpPr>
        <p:spPr>
          <a:xfrm>
            <a:off x="6035040" y="1825625"/>
            <a:ext cx="5613621" cy="4519516"/>
          </a:xfrm>
        </p:spPr>
        <p:txBody>
          <a:bodyPr>
            <a:normAutofit/>
          </a:bodyPr>
          <a:lstStyle/>
          <a:p>
            <a:endParaRPr lang="en-US" sz="2400" dirty="0"/>
          </a:p>
          <a:p>
            <a:r>
              <a:rPr lang="en-US" sz="2400" dirty="0"/>
              <a:t>Sub-Saharan Africa ($24.45M) and Europe ($24.20M) again lead in spending, while North America and Australia record the lowest. </a:t>
            </a:r>
          </a:p>
          <a:p>
            <a:endParaRPr lang="en-US" sz="2400" dirty="0"/>
          </a:p>
          <a:p>
            <a:r>
              <a:rPr lang="en-US" sz="2400" dirty="0"/>
              <a:t>This indicates that higher-income regions also exhibit high spending propensities, which supports the business model of providing on-demand consumer credit as spending activity is strong and credit utilization potential is high</a:t>
            </a:r>
          </a:p>
        </p:txBody>
      </p:sp>
    </p:spTree>
    <p:extLst>
      <p:ext uri="{BB962C8B-B14F-4D97-AF65-F5344CB8AC3E}">
        <p14:creationId xmlns:p14="http://schemas.microsoft.com/office/powerpoint/2010/main" val="95992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lide4" descr="Avg Disposable Income">
            <a:extLst>
              <a:ext uri="{FF2B5EF4-FFF2-40B4-BE49-F238E27FC236}">
                <a16:creationId xmlns:a16="http://schemas.microsoft.com/office/drawing/2014/main" id="{6691EBA9-1B53-45B7-AA73-3E2E52B7E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8371" y="1474304"/>
            <a:ext cx="6518745" cy="5109376"/>
          </a:xfrm>
          <a:prstGeom prst="rect">
            <a:avLst/>
          </a:prstGeom>
        </p:spPr>
      </p:pic>
      <p:sp>
        <p:nvSpPr>
          <p:cNvPr id="2" name="Title 1"/>
          <p:cNvSpPr>
            <a:spLocks noGrp="1"/>
          </p:cNvSpPr>
          <p:nvPr>
            <p:ph type="title"/>
          </p:nvPr>
        </p:nvSpPr>
        <p:spPr/>
        <p:txBody>
          <a:bodyPr/>
          <a:lstStyle/>
          <a:p>
            <a:r>
              <a:rPr lang="en-US" b="1" dirty="0"/>
              <a:t>Average Disposable Income /Saving Rates</a:t>
            </a:r>
          </a:p>
        </p:txBody>
      </p:sp>
      <p:sp>
        <p:nvSpPr>
          <p:cNvPr id="3" name="Content Placeholder 2"/>
          <p:cNvSpPr>
            <a:spLocks noGrp="1"/>
          </p:cNvSpPr>
          <p:nvPr>
            <p:ph idx="1"/>
          </p:nvPr>
        </p:nvSpPr>
        <p:spPr>
          <a:xfrm>
            <a:off x="429371" y="2409246"/>
            <a:ext cx="5192201" cy="3498574"/>
          </a:xfrm>
        </p:spPr>
        <p:txBody>
          <a:bodyPr>
            <a:noAutofit/>
          </a:bodyPr>
          <a:lstStyle/>
          <a:p>
            <a:r>
              <a:rPr lang="en-US" sz="2400" dirty="0"/>
              <a:t>Sub-Saharan Africa ($10.24M) and Europe ($10.13M) record the highest disposable incomes and savings rates of 26.10% and 25.86%, indicating strong earning power and repayment capacity. </a:t>
            </a:r>
          </a:p>
          <a:p>
            <a:r>
              <a:rPr lang="en-US" sz="2400" dirty="0"/>
              <a:t>Asia and MENA follow moderately, showing potential for credit growth but with tighter saving margins.</a:t>
            </a:r>
          </a:p>
          <a:p>
            <a:endParaRPr lang="en-US" sz="2200" dirty="0"/>
          </a:p>
        </p:txBody>
      </p:sp>
    </p:spTree>
    <p:extLst>
      <p:ext uri="{BB962C8B-B14F-4D97-AF65-F5344CB8AC3E}">
        <p14:creationId xmlns:p14="http://schemas.microsoft.com/office/powerpoint/2010/main" val="9599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lide5" descr="Savings Rate">
            <a:extLst>
              <a:ext uri="{FF2B5EF4-FFF2-40B4-BE49-F238E27FC236}">
                <a16:creationId xmlns:a16="http://schemas.microsoft.com/office/drawing/2014/main" id="{819D27B5-4D8A-4DA7-B5A7-FE01930D6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3905" y="1617345"/>
            <a:ext cx="7082323" cy="4357563"/>
          </a:xfrm>
          <a:prstGeom prst="rect">
            <a:avLst/>
          </a:prstGeom>
        </p:spPr>
      </p:pic>
      <p:sp>
        <p:nvSpPr>
          <p:cNvPr id="2" name="Title 1"/>
          <p:cNvSpPr>
            <a:spLocks noGrp="1"/>
          </p:cNvSpPr>
          <p:nvPr>
            <p:ph type="title"/>
          </p:nvPr>
        </p:nvSpPr>
        <p:spPr/>
        <p:txBody>
          <a:bodyPr/>
          <a:lstStyle/>
          <a:p>
            <a:r>
              <a:rPr lang="en-US" b="1" dirty="0"/>
              <a:t>Average Disposable Income /Saving Rates</a:t>
            </a:r>
          </a:p>
        </p:txBody>
      </p:sp>
      <p:sp>
        <p:nvSpPr>
          <p:cNvPr id="3" name="Content Placeholder 2"/>
          <p:cNvSpPr>
            <a:spLocks noGrp="1"/>
          </p:cNvSpPr>
          <p:nvPr>
            <p:ph idx="1"/>
          </p:nvPr>
        </p:nvSpPr>
        <p:spPr>
          <a:xfrm>
            <a:off x="226502" y="1891423"/>
            <a:ext cx="4746928" cy="4351338"/>
          </a:xfrm>
        </p:spPr>
        <p:txBody>
          <a:bodyPr>
            <a:normAutofit lnSpcReduction="10000"/>
          </a:bodyPr>
          <a:lstStyle/>
          <a:p>
            <a:r>
              <a:rPr lang="en-US" dirty="0"/>
              <a:t>North America lags behind with low disposable income of $854K and a 2.17% savings rate, reflecting weaker credit scalability. </a:t>
            </a:r>
          </a:p>
          <a:p>
            <a:r>
              <a:rPr lang="en-US" dirty="0"/>
              <a:t>Overall, the data highlights Sub-Saharan Africa and Europe as </a:t>
            </a:r>
            <a:r>
              <a:rPr lang="en-US" dirty="0" err="1"/>
              <a:t>CredPal’s</a:t>
            </a:r>
            <a:r>
              <a:rPr lang="en-US" dirty="0"/>
              <a:t> strongest markets, balancing high spending potential with solid financial discipline.</a:t>
            </a:r>
          </a:p>
          <a:p>
            <a:endParaRPr lang="en-US" dirty="0"/>
          </a:p>
        </p:txBody>
      </p:sp>
    </p:spTree>
    <p:extLst>
      <p:ext uri="{BB962C8B-B14F-4D97-AF65-F5344CB8AC3E}">
        <p14:creationId xmlns:p14="http://schemas.microsoft.com/office/powerpoint/2010/main" val="95992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The analysis validates that consumer credit infrastructure can thrive in regions where disposable income and spending patterns remain strong. </a:t>
            </a:r>
            <a:r>
              <a:rPr lang="en-US" dirty="0" err="1"/>
              <a:t>CredPal’s</a:t>
            </a:r>
            <a:r>
              <a:rPr lang="en-US" dirty="0"/>
              <a:t> impact on increasing merchant sales (up to 23%) could further scale in Sub-Saharan Africa and Europe, where both consumer demand and repayment ability are solid.</a:t>
            </a:r>
          </a:p>
        </p:txBody>
      </p:sp>
    </p:spTree>
    <p:extLst>
      <p:ext uri="{BB962C8B-B14F-4D97-AF65-F5344CB8AC3E}">
        <p14:creationId xmlns:p14="http://schemas.microsoft.com/office/powerpoint/2010/main" val="2117565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slide6" descr="Consumer Preferences">
            <a:extLst>
              <a:ext uri="{FF2B5EF4-FFF2-40B4-BE49-F238E27FC236}">
                <a16:creationId xmlns:a16="http://schemas.microsoft.com/office/drawing/2014/main" id="{EFCF1E42-3E84-4152-B779-5D27000448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47" y="3490623"/>
            <a:ext cx="11521439" cy="3244132"/>
          </a:xfrm>
          <a:prstGeom prst="rect">
            <a:avLst/>
          </a:prstGeom>
        </p:spPr>
      </p:pic>
      <p:sp>
        <p:nvSpPr>
          <p:cNvPr id="2" name="Title 1"/>
          <p:cNvSpPr>
            <a:spLocks noGrp="1"/>
          </p:cNvSpPr>
          <p:nvPr>
            <p:ph type="title"/>
          </p:nvPr>
        </p:nvSpPr>
        <p:spPr>
          <a:xfrm>
            <a:off x="758687" y="190831"/>
            <a:ext cx="10515600" cy="699715"/>
          </a:xfrm>
        </p:spPr>
        <p:txBody>
          <a:bodyPr>
            <a:normAutofit/>
          </a:bodyPr>
          <a:lstStyle/>
          <a:p>
            <a:r>
              <a:rPr lang="en-US" b="1" dirty="0"/>
              <a:t>Consumer Preference</a:t>
            </a:r>
          </a:p>
        </p:txBody>
      </p:sp>
      <p:sp>
        <p:nvSpPr>
          <p:cNvPr id="3" name="Content Placeholder 2"/>
          <p:cNvSpPr>
            <a:spLocks noGrp="1"/>
          </p:cNvSpPr>
          <p:nvPr>
            <p:ph idx="1"/>
          </p:nvPr>
        </p:nvSpPr>
        <p:spPr>
          <a:xfrm>
            <a:off x="184205" y="834887"/>
            <a:ext cx="11806361" cy="2361537"/>
          </a:xfrm>
        </p:spPr>
        <p:txBody>
          <a:bodyPr>
            <a:noAutofit/>
          </a:bodyPr>
          <a:lstStyle/>
          <a:p>
            <a:r>
              <a:rPr lang="en-US" sz="2000" dirty="0"/>
              <a:t>The analysis reveals that Sub-Saharan Africa and Europe exhibit the highest levels of consumer preference across nearly all product categories, particularly in Clothes, Cosmetics, and Personal Care, each recording counts above 10,700. </a:t>
            </a:r>
          </a:p>
          <a:p>
            <a:r>
              <a:rPr lang="en-US" sz="2000" dirty="0"/>
              <a:t>This indicates a broad and active interest in diverse consumer goods. In contrast, Central America and Australia show the lowest preference levels, averaging around 4,500–4,600, while Asia and the Middle East display moderate engagement. </a:t>
            </a:r>
          </a:p>
          <a:p>
            <a:r>
              <a:rPr lang="en-US" sz="2000" dirty="0"/>
              <a:t>Overall, both developing and developed markets in Africa and Europe maintain stronger consumer enthusiasm, signaling higher product demand and market responsiveness.</a:t>
            </a:r>
          </a:p>
        </p:txBody>
      </p:sp>
    </p:spTree>
    <p:extLst>
      <p:ext uri="{BB962C8B-B14F-4D97-AF65-F5344CB8AC3E}">
        <p14:creationId xmlns:p14="http://schemas.microsoft.com/office/powerpoint/2010/main" val="9599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slide7" descr="Consumer Expenditure">
            <a:extLst>
              <a:ext uri="{FF2B5EF4-FFF2-40B4-BE49-F238E27FC236}">
                <a16:creationId xmlns:a16="http://schemas.microsoft.com/office/drawing/2014/main" id="{E3687790-5895-4371-B20E-70216A426D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101" y="3490623"/>
            <a:ext cx="11648662" cy="3167103"/>
          </a:xfrm>
          <a:prstGeom prst="rect">
            <a:avLst/>
          </a:prstGeom>
        </p:spPr>
      </p:pic>
      <p:sp>
        <p:nvSpPr>
          <p:cNvPr id="2" name="Title 1"/>
          <p:cNvSpPr>
            <a:spLocks noGrp="1"/>
          </p:cNvSpPr>
          <p:nvPr>
            <p:ph type="title"/>
          </p:nvPr>
        </p:nvSpPr>
        <p:spPr>
          <a:xfrm>
            <a:off x="838200" y="365126"/>
            <a:ext cx="10515600" cy="811668"/>
          </a:xfrm>
        </p:spPr>
        <p:txBody>
          <a:bodyPr/>
          <a:lstStyle/>
          <a:p>
            <a:r>
              <a:rPr lang="en-US" b="1" dirty="0"/>
              <a:t>Consumer Expenditure</a:t>
            </a:r>
          </a:p>
        </p:txBody>
      </p:sp>
      <p:sp>
        <p:nvSpPr>
          <p:cNvPr id="3" name="Content Placeholder 2"/>
          <p:cNvSpPr>
            <a:spLocks noGrp="1"/>
          </p:cNvSpPr>
          <p:nvPr>
            <p:ph idx="1"/>
          </p:nvPr>
        </p:nvSpPr>
        <p:spPr>
          <a:xfrm>
            <a:off x="310101" y="1248357"/>
            <a:ext cx="11330609" cy="2043484"/>
          </a:xfrm>
        </p:spPr>
        <p:txBody>
          <a:bodyPr>
            <a:normAutofit fontScale="77500" lnSpcReduction="20000"/>
          </a:bodyPr>
          <a:lstStyle/>
          <a:p>
            <a:r>
              <a:rPr lang="en-US" dirty="0"/>
              <a:t>Spending patterns show that Office Supplies and Household Products account for the highest expenditure across regions, with Sub-Saharan Africa leading at $5.7M and $5.4M respectively.</a:t>
            </a:r>
          </a:p>
          <a:p>
            <a:r>
              <a:rPr lang="en-US" dirty="0"/>
              <a:t> Expenditure gradually decreases across Europe and Asia, while Middle Eastern, Central American, and Australian markets show significantly lower spending.</a:t>
            </a:r>
          </a:p>
          <a:p>
            <a:r>
              <a:rPr lang="en-US" dirty="0"/>
              <a:t>Categories such as Fruits, Beverages, and Personal Care record minimal spending, indicating these are lower-priority or underdeveloped markets. Overall, essential and work-related goods dominate consumer budgets, highlighting the importance of necessity-driven consumption.</a:t>
            </a:r>
          </a:p>
        </p:txBody>
      </p:sp>
    </p:spTree>
    <p:extLst>
      <p:ext uri="{BB962C8B-B14F-4D97-AF65-F5344CB8AC3E}">
        <p14:creationId xmlns:p14="http://schemas.microsoft.com/office/powerpoint/2010/main" val="9599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lide8" descr="Relationship Between Income,Expenditure &amp;amp; Savings">
            <a:extLst>
              <a:ext uri="{FF2B5EF4-FFF2-40B4-BE49-F238E27FC236}">
                <a16:creationId xmlns:a16="http://schemas.microsoft.com/office/drawing/2014/main" id="{6C589F94-44AA-44A1-8B9A-D807465F11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30" y="1121134"/>
            <a:ext cx="6525072" cy="5660667"/>
          </a:xfrm>
          <a:prstGeom prst="rect">
            <a:avLst/>
          </a:prstGeom>
        </p:spPr>
      </p:pic>
      <p:sp>
        <p:nvSpPr>
          <p:cNvPr id="2" name="Title 1"/>
          <p:cNvSpPr>
            <a:spLocks noGrp="1"/>
          </p:cNvSpPr>
          <p:nvPr>
            <p:ph type="title"/>
          </p:nvPr>
        </p:nvSpPr>
        <p:spPr>
          <a:xfrm>
            <a:off x="310101" y="206736"/>
            <a:ext cx="11680466" cy="1017766"/>
          </a:xfrm>
        </p:spPr>
        <p:txBody>
          <a:bodyPr>
            <a:normAutofit fontScale="90000"/>
          </a:bodyPr>
          <a:lstStyle/>
          <a:p>
            <a:r>
              <a:rPr lang="en-US" b="1" dirty="0"/>
              <a:t>Relationship Between Income, Expenditure, and Savings</a:t>
            </a:r>
            <a:endParaRPr lang="en-US" dirty="0"/>
          </a:p>
        </p:txBody>
      </p:sp>
      <p:sp>
        <p:nvSpPr>
          <p:cNvPr id="3" name="Content Placeholder 2"/>
          <p:cNvSpPr>
            <a:spLocks noGrp="1"/>
          </p:cNvSpPr>
          <p:nvPr>
            <p:ph idx="1"/>
          </p:nvPr>
        </p:nvSpPr>
        <p:spPr>
          <a:xfrm>
            <a:off x="6710900" y="1256306"/>
            <a:ext cx="5160397" cy="5271715"/>
          </a:xfrm>
        </p:spPr>
        <p:txBody>
          <a:bodyPr>
            <a:normAutofit fontScale="70000" lnSpcReduction="20000"/>
          </a:bodyPr>
          <a:lstStyle/>
          <a:p>
            <a:pPr fontAlgn="base"/>
            <a:r>
              <a:rPr lang="en-US" dirty="0"/>
              <a:t>The chart highlights how income, expenditure, and savings interact across region. A strong positive relationship is evident as income increases, expenditure also rises. However, savings rates differ notably across regions, reflecting varying financial behaviors.​</a:t>
            </a:r>
          </a:p>
          <a:p>
            <a:pPr fontAlgn="base"/>
            <a:r>
              <a:rPr lang="en-US" dirty="0"/>
              <a:t>Regions like Europe and North America exhibit higher income and spending levels, yet still maintain moderate-to-high savings rates, signaling financial discipline and stability. In contrast, Sub-Saharan Africa and Central America &amp; the Caribbean record lower income and expenditure levels, with smaller savings rates indicating tighter financial margins.​</a:t>
            </a:r>
          </a:p>
          <a:p>
            <a:pPr fontAlgn="base"/>
            <a:r>
              <a:rPr lang="en-US" dirty="0"/>
              <a:t>This trend reinforces that higher income supports both increased consumption and stronger savings capacity, emphasizing the dual role of income growth in enhancing consumer spending power and financial resilience across global regions.</a:t>
            </a:r>
          </a:p>
          <a:p>
            <a:endParaRPr lang="en-US" dirty="0"/>
          </a:p>
        </p:txBody>
      </p:sp>
    </p:spTree>
    <p:extLst>
      <p:ext uri="{BB962C8B-B14F-4D97-AF65-F5344CB8AC3E}">
        <p14:creationId xmlns:p14="http://schemas.microsoft.com/office/powerpoint/2010/main" val="95992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7915"/>
          </a:xfrm>
        </p:spPr>
        <p:txBody>
          <a:bodyPr>
            <a:normAutofit fontScale="90000"/>
          </a:bodyPr>
          <a:lstStyle/>
          <a:p>
            <a:pPr fontAlgn="base"/>
            <a:r>
              <a:rPr lang="en-US" dirty="0"/>
              <a:t>​</a:t>
            </a:r>
            <a:br>
              <a:rPr lang="en-US" dirty="0"/>
            </a:br>
            <a:r>
              <a:rPr lang="en-US" b="1" dirty="0"/>
              <a:t>Overall Market Interpretation</a:t>
            </a:r>
            <a:br>
              <a:rPr lang="en-US" dirty="0"/>
            </a:br>
            <a:endParaRPr lang="en-US" dirty="0"/>
          </a:p>
        </p:txBody>
      </p:sp>
      <p:sp>
        <p:nvSpPr>
          <p:cNvPr id="3" name="Content Placeholder 2"/>
          <p:cNvSpPr>
            <a:spLocks noGrp="1"/>
          </p:cNvSpPr>
          <p:nvPr>
            <p:ph idx="1"/>
          </p:nvPr>
        </p:nvSpPr>
        <p:spPr>
          <a:xfrm>
            <a:off x="5430741" y="1391478"/>
            <a:ext cx="6456459" cy="5284278"/>
          </a:xfrm>
        </p:spPr>
        <p:txBody>
          <a:bodyPr>
            <a:normAutofit fontScale="77500" lnSpcReduction="20000"/>
          </a:bodyPr>
          <a:lstStyle/>
          <a:p>
            <a:pPr fontAlgn="base"/>
            <a:r>
              <a:rPr lang="en-US" dirty="0"/>
              <a:t>Sub-Saharan Africa recorded the highest income ($34.7M), expenditure ($24.5M), and savings rate ($4.48M), indicating strong financial performance.​</a:t>
            </a:r>
          </a:p>
          <a:p>
            <a:pPr fontAlgn="base"/>
            <a:r>
              <a:rPr lang="en-US" dirty="0"/>
              <a:t>Europe followed closely with similar spending and saving patterns, while Asia showed moderate figures.​</a:t>
            </a:r>
          </a:p>
          <a:p>
            <a:pPr fontAlgn="base"/>
            <a:r>
              <a:rPr lang="en-US" dirty="0"/>
              <a:t>Personal Care emerged as the most preferred consumer category across all regions.​</a:t>
            </a:r>
          </a:p>
          <a:p>
            <a:pPr fontAlgn="base"/>
            <a:r>
              <a:rPr lang="en-US" dirty="0"/>
              <a:t>Sub-Saharan Africa and Europe had the highest consumer preference counts for Personal Care products.​</a:t>
            </a:r>
          </a:p>
          <a:p>
            <a:pPr fontAlgn="base"/>
            <a:endParaRPr lang="en-US" dirty="0"/>
          </a:p>
          <a:p>
            <a:pPr fontAlgn="base"/>
            <a:r>
              <a:rPr lang="en-US" dirty="0"/>
              <a:t>Top categories by expenditure include Office Supplies, Meat, and Household Items — reflecting a balance of professional, nutritional, and domestic spending needs.​</a:t>
            </a:r>
          </a:p>
          <a:p>
            <a:pPr fontAlgn="base"/>
            <a:r>
              <a:rPr lang="en-US" dirty="0"/>
              <a:t>The data shows a positive correlation between income, expenditure, and savings, with consistent consumer interest in essential personal products.</a:t>
            </a:r>
          </a:p>
          <a:p>
            <a:endParaRPr lang="en-US" dirty="0"/>
          </a:p>
        </p:txBody>
      </p:sp>
      <p:pic>
        <p:nvPicPr>
          <p:cNvPr id="4" name="slide12" descr="Region With The Highest Income ,Expenditure &amp;amp; Customer Preference)">
            <a:extLst>
              <a:ext uri="{FF2B5EF4-FFF2-40B4-BE49-F238E27FC236}">
                <a16:creationId xmlns:a16="http://schemas.microsoft.com/office/drawing/2014/main" id="{87CDD9AC-61C6-46B2-B1C1-EA5BB2681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339" y="1178451"/>
            <a:ext cx="4384979" cy="1262600"/>
          </a:xfrm>
          <a:prstGeom prst="rect">
            <a:avLst/>
          </a:prstGeom>
        </p:spPr>
      </p:pic>
      <p:pic>
        <p:nvPicPr>
          <p:cNvPr id="5" name="slide9" descr="Region With The Highest Income ,Expenditure &amp;amp; Savings">
            <a:extLst>
              <a:ext uri="{FF2B5EF4-FFF2-40B4-BE49-F238E27FC236}">
                <a16:creationId xmlns:a16="http://schemas.microsoft.com/office/drawing/2014/main" id="{77F82349-C667-4345-9E20-29B03F620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680" y="5499741"/>
            <a:ext cx="4520152" cy="1176015"/>
          </a:xfrm>
          <a:prstGeom prst="rect">
            <a:avLst/>
          </a:prstGeom>
        </p:spPr>
      </p:pic>
      <p:pic>
        <p:nvPicPr>
          <p:cNvPr id="6" name="slide10" descr="Consumer Preference With The Highest Expenditure">
            <a:extLst>
              <a:ext uri="{FF2B5EF4-FFF2-40B4-BE49-F238E27FC236}">
                <a16:creationId xmlns:a16="http://schemas.microsoft.com/office/drawing/2014/main" id="{FDB47377-7B20-4DCC-89A8-A91F86BCEB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339" y="4246419"/>
            <a:ext cx="4384979" cy="1136614"/>
          </a:xfrm>
          <a:prstGeom prst="rect">
            <a:avLst/>
          </a:prstGeom>
        </p:spPr>
      </p:pic>
      <p:pic>
        <p:nvPicPr>
          <p:cNvPr id="7" name="slide11" descr="HIghest Consumer Preferences ">
            <a:extLst>
              <a:ext uri="{FF2B5EF4-FFF2-40B4-BE49-F238E27FC236}">
                <a16:creationId xmlns:a16="http://schemas.microsoft.com/office/drawing/2014/main" id="{86C93331-2C08-48F3-8276-25557BB9F9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626" y="2662476"/>
            <a:ext cx="4336692" cy="1432446"/>
          </a:xfrm>
          <a:prstGeom prst="rect">
            <a:avLst/>
          </a:prstGeom>
        </p:spPr>
      </p:pic>
    </p:spTree>
    <p:extLst>
      <p:ext uri="{BB962C8B-B14F-4D97-AF65-F5344CB8AC3E}">
        <p14:creationId xmlns:p14="http://schemas.microsoft.com/office/powerpoint/2010/main" val="3016257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p>
        </p:txBody>
      </p:sp>
      <p:sp>
        <p:nvSpPr>
          <p:cNvPr id="3" name="Content Placeholder 2"/>
          <p:cNvSpPr>
            <a:spLocks noGrp="1"/>
          </p:cNvSpPr>
          <p:nvPr>
            <p:ph sz="half" idx="1"/>
          </p:nvPr>
        </p:nvSpPr>
        <p:spPr>
          <a:xfrm>
            <a:off x="500932" y="1825625"/>
            <a:ext cx="5486400" cy="4351338"/>
          </a:xfrm>
        </p:spPr>
        <p:txBody>
          <a:bodyPr>
            <a:normAutofit fontScale="92500" lnSpcReduction="20000"/>
          </a:bodyPr>
          <a:lstStyle/>
          <a:p>
            <a:pPr marL="0" indent="0">
              <a:buNone/>
            </a:pPr>
            <a:r>
              <a:rPr lang="en-US" b="1" dirty="0"/>
              <a:t>1. Prioritize Market Expansion in Sub-Saharan Africa and Europe</a:t>
            </a:r>
          </a:p>
          <a:p>
            <a:r>
              <a:rPr lang="en-US" dirty="0"/>
              <a:t>These regions show the </a:t>
            </a:r>
            <a:r>
              <a:rPr lang="en-US" b="1" dirty="0"/>
              <a:t>highest average income, expenditure, and savings rates</a:t>
            </a:r>
            <a:r>
              <a:rPr lang="en-US" dirty="0"/>
              <a:t>, indicating strong consumer purchasing power and repayment capacity.</a:t>
            </a:r>
          </a:p>
          <a:p>
            <a:r>
              <a:rPr lang="en-US" dirty="0"/>
              <a:t>Their </a:t>
            </a:r>
            <a:r>
              <a:rPr lang="en-US" b="1" dirty="0"/>
              <a:t>high consumer preference</a:t>
            </a:r>
            <a:r>
              <a:rPr lang="en-US" dirty="0"/>
              <a:t> across diverse product categories (especially Personal Care, Clothes, and Cosmetics) suggests vibrant retail ecosystems primed for credit utilization.</a:t>
            </a:r>
          </a:p>
        </p:txBody>
      </p:sp>
      <p:sp>
        <p:nvSpPr>
          <p:cNvPr id="4" name="Content Placeholder 3"/>
          <p:cNvSpPr>
            <a:spLocks noGrp="1"/>
          </p:cNvSpPr>
          <p:nvPr>
            <p:ph sz="half" idx="2"/>
          </p:nvPr>
        </p:nvSpPr>
        <p:spPr>
          <a:xfrm>
            <a:off x="6806317" y="1733383"/>
            <a:ext cx="5160396" cy="4443579"/>
          </a:xfrm>
        </p:spPr>
        <p:txBody>
          <a:bodyPr>
            <a:normAutofit fontScale="92500" lnSpcReduction="20000"/>
          </a:bodyPr>
          <a:lstStyle/>
          <a:p>
            <a:pPr marL="0" indent="0">
              <a:buNone/>
            </a:pPr>
            <a:r>
              <a:rPr lang="en-US" b="1" dirty="0"/>
              <a:t>2. Tailor Credit Products to Necessity-Driven Categories</a:t>
            </a:r>
          </a:p>
          <a:p>
            <a:r>
              <a:rPr lang="en-US" dirty="0"/>
              <a:t>Focus credit offerings on </a:t>
            </a:r>
            <a:r>
              <a:rPr lang="en-US" b="1" dirty="0"/>
              <a:t>Office Supplies, Household Products, and Meat</a:t>
            </a:r>
            <a:r>
              <a:rPr lang="en-US" dirty="0"/>
              <a:t>, which dominate expenditure across regions.</a:t>
            </a:r>
          </a:p>
          <a:p>
            <a:r>
              <a:rPr lang="en-US" dirty="0"/>
              <a:t>These categories reflect </a:t>
            </a:r>
            <a:r>
              <a:rPr lang="en-US" b="1" dirty="0"/>
              <a:t>essential and recurring spending</a:t>
            </a:r>
            <a:r>
              <a:rPr lang="en-US" dirty="0"/>
              <a:t>, increasing the likelihood of consistent credit usage and repayment.</a:t>
            </a:r>
          </a:p>
          <a:p>
            <a:pPr marL="0" indent="0">
              <a:buNone/>
            </a:pPr>
            <a:endParaRPr lang="en-US" dirty="0"/>
          </a:p>
          <a:p>
            <a:endParaRPr lang="en-US" dirty="0"/>
          </a:p>
        </p:txBody>
      </p:sp>
    </p:spTree>
    <p:extLst>
      <p:ext uri="{BB962C8B-B14F-4D97-AF65-F5344CB8AC3E}">
        <p14:creationId xmlns:p14="http://schemas.microsoft.com/office/powerpoint/2010/main" val="479345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p>
        </p:txBody>
      </p:sp>
      <p:sp>
        <p:nvSpPr>
          <p:cNvPr id="3" name="Content Placeholder 2"/>
          <p:cNvSpPr>
            <a:spLocks noGrp="1"/>
          </p:cNvSpPr>
          <p:nvPr>
            <p:ph sz="half" idx="1"/>
          </p:nvPr>
        </p:nvSpPr>
        <p:spPr>
          <a:xfrm>
            <a:off x="532737" y="1825625"/>
            <a:ext cx="5367131" cy="4351338"/>
          </a:xfrm>
        </p:spPr>
        <p:txBody>
          <a:bodyPr>
            <a:normAutofit fontScale="85000" lnSpcReduction="20000"/>
          </a:bodyPr>
          <a:lstStyle/>
          <a:p>
            <a:pPr marL="0" indent="0">
              <a:buNone/>
            </a:pPr>
            <a:r>
              <a:rPr lang="en-US" b="1" dirty="0"/>
              <a:t>3. Segment Credit Strategies by Financial Behavior</a:t>
            </a:r>
          </a:p>
          <a:p>
            <a:r>
              <a:rPr lang="en-US" b="1" dirty="0"/>
              <a:t>Sub-Saharan Africa &amp; Europe</a:t>
            </a:r>
            <a:r>
              <a:rPr lang="en-US" dirty="0"/>
              <a:t>: Offer </a:t>
            </a:r>
            <a:r>
              <a:rPr lang="en-US" b="1" dirty="0"/>
              <a:t>flexible credit lines</a:t>
            </a:r>
            <a:r>
              <a:rPr lang="en-US" dirty="0"/>
              <a:t> with loyalty incentives, given their strong financial discipline and high savings rates.</a:t>
            </a:r>
          </a:p>
          <a:p>
            <a:r>
              <a:rPr lang="en-US" b="1" dirty="0"/>
              <a:t>Asia &amp; MENA</a:t>
            </a:r>
            <a:r>
              <a:rPr lang="en-US" dirty="0"/>
              <a:t>: Introduce </a:t>
            </a:r>
            <a:r>
              <a:rPr lang="en-US" b="1" dirty="0"/>
              <a:t>moderate credit limits</a:t>
            </a:r>
            <a:r>
              <a:rPr lang="en-US" dirty="0"/>
              <a:t> with educational campaigns to boost financial literacy and savings behavior.</a:t>
            </a:r>
          </a:p>
          <a:p>
            <a:r>
              <a:rPr lang="en-US" b="1" dirty="0"/>
              <a:t>North America &amp; Australia</a:t>
            </a:r>
            <a:r>
              <a:rPr lang="en-US" dirty="0"/>
              <a:t>: Consider </a:t>
            </a:r>
            <a:r>
              <a:rPr lang="en-US" b="1" dirty="0"/>
              <a:t>alternative models</a:t>
            </a:r>
            <a:r>
              <a:rPr lang="en-US" dirty="0"/>
              <a:t> (e.g., BNPL with strict repayment terms) due to low disposable income and savings rates.</a:t>
            </a:r>
          </a:p>
        </p:txBody>
      </p:sp>
      <p:sp>
        <p:nvSpPr>
          <p:cNvPr id="4" name="Content Placeholder 3"/>
          <p:cNvSpPr>
            <a:spLocks noGrp="1"/>
          </p:cNvSpPr>
          <p:nvPr>
            <p:ph sz="half" idx="2"/>
          </p:nvPr>
        </p:nvSpPr>
        <p:spPr>
          <a:xfrm>
            <a:off x="6376945" y="1825625"/>
            <a:ext cx="5406887" cy="4351338"/>
          </a:xfrm>
        </p:spPr>
        <p:txBody>
          <a:bodyPr>
            <a:normAutofit fontScale="85000" lnSpcReduction="20000"/>
          </a:bodyPr>
          <a:lstStyle/>
          <a:p>
            <a:pPr marL="0" indent="0">
              <a:buNone/>
            </a:pPr>
            <a:r>
              <a:rPr lang="en-US" b="1" dirty="0"/>
              <a:t>4. Leverage Consumer Preference Data for Targeted Marketing</a:t>
            </a:r>
          </a:p>
          <a:p>
            <a:r>
              <a:rPr lang="en-US" dirty="0"/>
              <a:t>Use high engagement in </a:t>
            </a:r>
            <a:r>
              <a:rPr lang="en-US" b="1" dirty="0"/>
              <a:t>Clothes, Cosmetics, and Personal Care</a:t>
            </a:r>
            <a:r>
              <a:rPr lang="en-US" dirty="0"/>
              <a:t> to design </a:t>
            </a:r>
            <a:r>
              <a:rPr lang="en-US" b="1" dirty="0"/>
              <a:t>product-specific credit bundles</a:t>
            </a:r>
            <a:r>
              <a:rPr lang="en-US" dirty="0"/>
              <a:t> and promotions.</a:t>
            </a:r>
          </a:p>
          <a:p>
            <a:r>
              <a:rPr lang="en-US" dirty="0"/>
              <a:t>Implement </a:t>
            </a:r>
            <a:r>
              <a:rPr lang="en-US" b="1" dirty="0"/>
              <a:t>region-specific campaigns</a:t>
            </a:r>
            <a:r>
              <a:rPr lang="en-US" dirty="0"/>
              <a:t> that highlight popular categories to drive adoption and retention.</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403715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Recommendations</a:t>
            </a:r>
          </a:p>
        </p:txBody>
      </p:sp>
      <p:sp>
        <p:nvSpPr>
          <p:cNvPr id="3" name="Content Placeholder 2"/>
          <p:cNvSpPr>
            <a:spLocks noGrp="1"/>
          </p:cNvSpPr>
          <p:nvPr>
            <p:ph sz="half" idx="1"/>
          </p:nvPr>
        </p:nvSpPr>
        <p:spPr>
          <a:xfrm>
            <a:off x="397565" y="1825625"/>
            <a:ext cx="5406887" cy="4351338"/>
          </a:xfrm>
        </p:spPr>
        <p:txBody>
          <a:bodyPr>
            <a:normAutofit/>
          </a:bodyPr>
          <a:lstStyle/>
          <a:p>
            <a:r>
              <a:rPr lang="en-US" b="1" dirty="0"/>
              <a:t>5. Use Predictive Analytics to Optimize Credit Risk Models</a:t>
            </a:r>
          </a:p>
          <a:p>
            <a:r>
              <a:rPr lang="en-US" dirty="0"/>
              <a:t>Integrate regional income-expenditure-savings correlations into </a:t>
            </a:r>
            <a:r>
              <a:rPr lang="en-US" b="1" dirty="0"/>
              <a:t>risk scoring algorithms</a:t>
            </a:r>
            <a:r>
              <a:rPr lang="en-US" dirty="0"/>
              <a:t>.</a:t>
            </a:r>
          </a:p>
          <a:p>
            <a:r>
              <a:rPr lang="en-US" dirty="0"/>
              <a:t>This will help </a:t>
            </a:r>
            <a:r>
              <a:rPr lang="en-US" b="1" dirty="0"/>
              <a:t>differentiate creditworthiness</a:t>
            </a:r>
            <a:r>
              <a:rPr lang="en-US" dirty="0"/>
              <a:t> across markets and reduce default rates by aligning credit limits with financial behavior.</a:t>
            </a:r>
          </a:p>
        </p:txBody>
      </p:sp>
      <p:sp>
        <p:nvSpPr>
          <p:cNvPr id="4" name="Content Placeholder 3"/>
          <p:cNvSpPr>
            <a:spLocks noGrp="1"/>
          </p:cNvSpPr>
          <p:nvPr>
            <p:ph sz="half" idx="2"/>
          </p:nvPr>
        </p:nvSpPr>
        <p:spPr>
          <a:xfrm>
            <a:off x="6172199" y="1825625"/>
            <a:ext cx="5587779" cy="4351338"/>
          </a:xfrm>
        </p:spPr>
        <p:txBody>
          <a:bodyPr>
            <a:normAutofit/>
          </a:bodyPr>
          <a:lstStyle/>
          <a:p>
            <a:pPr marL="0" indent="0">
              <a:buNone/>
            </a:pPr>
            <a:r>
              <a:rPr lang="en-US" b="1" dirty="0"/>
              <a:t>6. Strengthen Data Partnerships for Continuous Insights</a:t>
            </a:r>
          </a:p>
          <a:p>
            <a:r>
              <a:rPr lang="en-US" dirty="0"/>
              <a:t>Collaborate with merchants and financial institutions in high-performing regions to </a:t>
            </a:r>
            <a:r>
              <a:rPr lang="en-US" b="1" dirty="0"/>
              <a:t>gather real-time consumer data</a:t>
            </a:r>
            <a:r>
              <a:rPr lang="en-US" dirty="0"/>
              <a:t>.</a:t>
            </a:r>
          </a:p>
          <a:p>
            <a:r>
              <a:rPr lang="en-US" dirty="0"/>
              <a:t>This will enhance </a:t>
            </a:r>
            <a:r>
              <a:rPr lang="en-US" b="1" dirty="0"/>
              <a:t>dynamic credit adjustments</a:t>
            </a:r>
            <a:r>
              <a:rPr lang="en-US" dirty="0"/>
              <a:t> and support </a:t>
            </a:r>
            <a:r>
              <a:rPr lang="en-US" b="1" dirty="0"/>
              <a:t>investment decisions</a:t>
            </a:r>
            <a:r>
              <a:rPr lang="en-US" dirty="0"/>
              <a:t> with up-to-date market intelligence.</a:t>
            </a:r>
          </a:p>
          <a:p>
            <a:pPr marL="0" indent="0">
              <a:buNone/>
            </a:pPr>
            <a:endParaRPr lang="en-US" dirty="0"/>
          </a:p>
          <a:p>
            <a:endParaRPr lang="en-US" dirty="0"/>
          </a:p>
        </p:txBody>
      </p:sp>
    </p:spTree>
    <p:extLst>
      <p:ext uri="{BB962C8B-B14F-4D97-AF65-F5344CB8AC3E}">
        <p14:creationId xmlns:p14="http://schemas.microsoft.com/office/powerpoint/2010/main" val="1684032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OVERALL DASHBOARD </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75536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slide13" descr="Dashboard 1">
            <a:extLst>
              <a:ext uri="{FF2B5EF4-FFF2-40B4-BE49-F238E27FC236}">
                <a16:creationId xmlns:a16="http://schemas.microsoft.com/office/drawing/2014/main" id="{51210BFE-C347-48B4-A3B6-C2D129504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32"/>
            <a:ext cx="12192000" cy="5605136"/>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slide14" descr="Dashboard 2">
            <a:extLst>
              <a:ext uri="{FF2B5EF4-FFF2-40B4-BE49-F238E27FC236}">
                <a16:creationId xmlns:a16="http://schemas.microsoft.com/office/drawing/2014/main" id="{E1B80C67-2355-45C7-9D9B-3327D6D4B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32"/>
            <a:ext cx="12192000" cy="5605136"/>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slide15" descr="Dashboard 3">
            <a:extLst>
              <a:ext uri="{FF2B5EF4-FFF2-40B4-BE49-F238E27FC236}">
                <a16:creationId xmlns:a16="http://schemas.microsoft.com/office/drawing/2014/main" id="{7924CF0C-4286-44D0-BC4A-C0B7366F8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32"/>
            <a:ext cx="12192000" cy="5605136"/>
          </a:xfrm>
          <a:prstGeom prst="rect">
            <a:avLst/>
          </a:prstGeom>
        </p:spPr>
      </p:pic>
    </p:spTree>
    <p:extLst>
      <p:ext uri="{BB962C8B-B14F-4D97-AF65-F5344CB8AC3E}">
        <p14:creationId xmlns:p14="http://schemas.microsoft.com/office/powerpoint/2010/main" val="95992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slide16" descr="Dashboard 4">
            <a:extLst>
              <a:ext uri="{FF2B5EF4-FFF2-40B4-BE49-F238E27FC236}">
                <a16:creationId xmlns:a16="http://schemas.microsoft.com/office/drawing/2014/main" id="{5D90C21F-0607-4810-ACC4-308FC9725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172" y="861961"/>
            <a:ext cx="11679687" cy="5369606"/>
          </a:xfrm>
          <a:prstGeom prst="rect">
            <a:avLst/>
          </a:prstGeom>
        </p:spPr>
      </p:pic>
    </p:spTree>
    <p:extLst>
      <p:ext uri="{BB962C8B-B14F-4D97-AF65-F5344CB8AC3E}">
        <p14:creationId xmlns:p14="http://schemas.microsoft.com/office/powerpoint/2010/main" val="95992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Apex</Template>
  <TotalTime>78</TotalTime>
  <Words>1115</Words>
  <Application>Microsoft Office PowerPoint</Application>
  <PresentationFormat>Widescreen</PresentationFormat>
  <Paragraphs>72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Unlocking Consumer Patterns: Predictive Analytics for CredPal’s Credit Ecosystem </vt:lpstr>
      <vt:lpstr>Table of Content</vt:lpstr>
      <vt:lpstr>Average Monthly Income by Region:</vt:lpstr>
      <vt:lpstr>Monthly Expenditure by Region</vt:lpstr>
      <vt:lpstr>Average Disposable Income /Saving Rates</vt:lpstr>
      <vt:lpstr>Average Disposable Income /Saving Rates</vt:lpstr>
      <vt:lpstr>PowerPoint Presentation</vt:lpstr>
      <vt:lpstr>Consumer Preference</vt:lpstr>
      <vt:lpstr>Consumer Expenditure</vt:lpstr>
      <vt:lpstr>Relationship Between Income, Expenditure, and Savings</vt:lpstr>
      <vt:lpstr>​ Overall Market Interpretation </vt:lpstr>
      <vt:lpstr>Recommendations</vt:lpstr>
      <vt:lpstr>Recommendations</vt:lpstr>
      <vt:lpstr>Recommendations</vt:lpstr>
      <vt:lpstr>OVERALL DASHBOARD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CredPal</dc:title>
  <dc:creator/>
  <cp:lastModifiedBy>Winfred Githimbo</cp:lastModifiedBy>
  <cp:revision>28</cp:revision>
  <dcterms:created xsi:type="dcterms:W3CDTF">2025-10-29T20:34:03Z</dcterms:created>
  <dcterms:modified xsi:type="dcterms:W3CDTF">2025-11-05T06:38:31Z</dcterms:modified>
</cp:coreProperties>
</file>